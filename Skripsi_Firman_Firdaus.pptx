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5" d="100"/>
          <a:sy n="65" d="100"/>
        </p:scale>
        <p:origin x="-80" y="1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447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0B2447"/>
                </a:solidFill>
                <a:latin typeface="Calibri"/>
              </a:rPr>
              <a:t>Sebaran Test Case per Kategori (Total 61 TC — Pass Rate 100%)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Jumlah Test Case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B2447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Autentikasi</c:v>
                </c:pt>
                <c:pt idx="1">
                  <c:v>Data Rekam</c:v>
                </c:pt>
                <c:pt idx="2">
                  <c:v>SILPANA</c:v>
                </c:pt>
                <c:pt idx="3">
                  <c:v>Aktivitas SIAK</c:v>
                </c:pt>
                <c:pt idx="4">
                  <c:v>Health/Sec</c:v>
                </c:pt>
                <c:pt idx="5">
                  <c:v>CORS</c:v>
                </c:pt>
                <c:pt idx="6">
                  <c:v>Error/Infra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</c:v>
                </c:pt>
                <c:pt idx="1">
                  <c:v>8</c:v>
                </c:pt>
                <c:pt idx="2">
                  <c:v>7</c:v>
                </c:pt>
                <c:pt idx="3">
                  <c:v>4</c:v>
                </c:pt>
                <c:pt idx="4">
                  <c:v>6</c:v>
                </c:pt>
                <c:pt idx="5">
                  <c:v>6</c:v>
                </c:pt>
                <c:pt idx="6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FF-4025-84B1-DB4CD3BEAC3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3293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F1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A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0B2447"/>
                </a:solidFill>
                <a:latin typeface="Calibri"/>
              </a:defRPr>
            </a:pPr>
            <a:r>
              <a:rPr lang="fi-FI" sz="1250" b="0" i="0" u="none" strike="noStrike" dirty="0">
                <a:solidFill>
                  <a:srgbClr val="0B2447"/>
                </a:solidFill>
                <a:latin typeface="Calibri"/>
              </a:rPr>
              <a:t>Waktu Pemrosesan 1 Laporan (detik)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Waktu Proses (detik)</c:v>
                </c:pt>
              </c:strCache>
            </c:strRef>
          </c:tx>
          <c:spPr>
            <a:solidFill>
              <a:srgbClr val="5B7A8C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5B7A8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23C-46C6-925C-BAC41641981A}"/>
              </c:ext>
            </c:extLst>
          </c:dPt>
          <c:dPt>
            <c:idx val="1"/>
            <c:invertIfNegative val="0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23C-46C6-925C-BAC41641981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0B2447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Sebelum (Manual)</c:v>
                </c:pt>
                <c:pt idx="1">
                  <c:v>Sesudah (Go Backend)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23C-46C6-925C-BAC41641981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3293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1532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4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754880"/>
            <a:ext cx="4572000" cy="457200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34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SKRIPSI  •  SISTEM INFORMASI  •  IPI GARUT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Rancang Bangun Platform Sistem Evaluasi Pelaporan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Menggunakan </a:t>
            </a:r>
            <a:r>
              <a:rPr lang="en-US" sz="19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r>
              <a:rPr lang="en-US" sz="1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 </a:t>
            </a:r>
            <a:r>
              <a:rPr lang="en-US" sz="19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r>
              <a:rPr lang="en-US" sz="1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Guna Optimalisasi Layanan Publik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 Kasus: Dinas Kependudukan dan Pencatatan Sipil Kabupaten Garut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3891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Firman Firdaus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482803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NIM. 24.57.2014012  |  Program Studi Sistem Informasi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525780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C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Pembimbing I: Yopi Nugraha, M.Kom.   |   Pembimbing II: Rd. Muhammad Sopian Pratama, M.Ds., M.Kom.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PRESENTASI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Alur Pembahasan Sidang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039112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7293">
                    <a:alpha val="8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83080" y="205740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 &amp; Rumusan Masalah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783080" y="2587752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 masalah dan urgensi penelitian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89320" y="1874520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E8F1F5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0" y="2039112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7293">
                    <a:alpha val="8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223760" y="205740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Tujuan, Batasan &amp; Metode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223760" y="2587752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Thinking sebagai kerangka kerja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547872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E8F1F5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12464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7293">
                    <a:alpha val="8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783080" y="3730752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Design Thinking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783080" y="4261104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Empathize → Define → Ideate → Prototype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89320" y="3547872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3712464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7293">
                    <a:alpha val="8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7223760" y="3730752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Implementasi Sistem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223760" y="4261104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Arsitektur, tampilan, dan teknologi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221224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E8F1F5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85816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7293">
                    <a:alpha val="8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1783080" y="5404104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Pengujian &amp; Hasil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783080" y="5934456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Black-Box, dan performa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89320" y="5221224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E8F1F5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5385816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7293">
                    <a:alpha val="8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7223760" y="5404104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 &amp; Saran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7223760" y="5934456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Capaian penelitian dan rekomendasi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 — PENDAHULUAN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Latar Belakang Masalah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760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Transformasi digital sektor publik </a:t>
            </a:r>
            <a:r>
              <a:rPr lang="en-US" sz="15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agenda utama tata kelola pemerintahan yang transparan dan akuntabel. Namun, evaluasi pelaporan aktivitas harian pegawai di </a:t>
            </a:r>
            <a:r>
              <a:rPr lang="en-US" sz="15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Disdukcapil Kabupaten Garut</a:t>
            </a:r>
            <a:r>
              <a:rPr lang="en-US" sz="15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masih dilakukan secara manual — rawan human error dan sulit dipantau secara objektif.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5760720" cy="2148840"/>
          </a:xfrm>
          <a:prstGeom prst="roundRect">
            <a:avLst>
              <a:gd name="adj" fmla="val 3404"/>
            </a:avLst>
          </a:prstGeom>
          <a:solidFill>
            <a:srgbClr val="0B244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1605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Inti di Lapangan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452628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Pelaporan manual via Excel &amp; Notepad, belum terintegrasi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duplikat (duplicate operator) &amp; salah rekam sulit dideteksi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 kinerja pelaporan belum otomatis &amp; terukur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Pimpinan kesulitan memonitor kinerja secara real-time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720840" y="1737360"/>
            <a:ext cx="4937760" cy="1234440"/>
          </a:xfrm>
          <a:prstGeom prst="roundRect">
            <a:avLst>
              <a:gd name="adj" fmla="val 5926"/>
            </a:avLst>
          </a:prstGeom>
          <a:solidFill>
            <a:srgbClr val="E8F1F5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0" y="1847088"/>
            <a:ext cx="1920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184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8869680" y="1847088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Pegawai terlibat dalam proses pelaporan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720840" y="3200400"/>
            <a:ext cx="4937760" cy="1234440"/>
          </a:xfrm>
          <a:prstGeom prst="roundRect">
            <a:avLst>
              <a:gd name="adj" fmla="val 5926"/>
            </a:avLst>
          </a:prstGeom>
          <a:solidFill>
            <a:srgbClr val="E8F1F5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3310128"/>
            <a:ext cx="1920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400+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869680" y="3310128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biometrik diproses per hari (Bidang PIAK)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720840" y="4663440"/>
            <a:ext cx="4937760" cy="1234440"/>
          </a:xfrm>
          <a:prstGeom prst="roundRect">
            <a:avLst>
              <a:gd name="adj" fmla="val 5926"/>
            </a:avLst>
          </a:prstGeom>
          <a:solidFill>
            <a:srgbClr val="E8F1F5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4773168"/>
            <a:ext cx="1920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3.783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869680" y="4773168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rekaman anomali dalam 6 bulan terakhir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720840" y="61722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wawancara Administrator Database Disdukcapil Kab. Garut, 2026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 — PENDAHULUAN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Rumusan Masalah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E8F1F5"/>
          </a:solidFill>
          <a:ln w="12700">
            <a:solidFill>
              <a:srgbClr val="E8F1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031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83080" y="1920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Perancangan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83080" y="2258568"/>
            <a:ext cx="9509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merancang platform evaluasi pelaporan yang mencakup pelaporan aktivitas harian, deteksi duplikat, salah rekam, dan pengajuan bulanan secara terintegrasi?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8F1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6616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661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83080" y="3383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83080" y="3721608"/>
            <a:ext cx="9509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mengimplementasikan evaluasi pelaporan secara otomatis dan terukur menggunakan pendekatan rules-based scoring engine?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0916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E8F1F5"/>
          </a:solidFill>
          <a:ln w="12700">
            <a:solidFill>
              <a:srgbClr val="E8F1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502920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02920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83080" y="4846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Penerimaan Pengguna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83080" y="5184648"/>
            <a:ext cx="9509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tingkat penerimaan pengguna terhadap platform berdasarkan Black-Box Testing?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 — PENDAHULUAN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 dan Batasan Penelitian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0B244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PENELITIAN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9377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900"/>
              </a:lnSpc>
              <a:spcAft>
                <a:spcPts val="1400"/>
              </a:spcAft>
              <a:buSzPct val="100000"/>
              <a:buChar char="✦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Merancang &amp; membangun platform evaluasi pelaporan terintegrasi</a:t>
            </a:r>
            <a:endParaRPr lang="en-US" sz="1450" dirty="0"/>
          </a:p>
          <a:p>
            <a:pPr marL="342900" indent="-342900">
              <a:lnSpc>
                <a:spcPts val="1900"/>
              </a:lnSpc>
              <a:spcAft>
                <a:spcPts val="1400"/>
              </a:spcAft>
              <a:buSzPct val="100000"/>
              <a:buChar char="✦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Mengimplementasikan rules-based scoring engine otomatis</a:t>
            </a:r>
            <a:endParaRPr lang="en-US" sz="1450" dirty="0"/>
          </a:p>
          <a:p>
            <a:pPr marL="342900" indent="-342900">
              <a:lnSpc>
                <a:spcPts val="1900"/>
              </a:lnSpc>
              <a:spcAft>
                <a:spcPts val="1400"/>
              </a:spcAft>
              <a:buSzPct val="100000"/>
              <a:buChar char="✦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Menguji fungsionalitas (Black-Box) &amp; tingkat penerimaan pengguna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E8F1F5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BATASAN MASALAH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423160"/>
            <a:ext cx="4846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900"/>
              </a:lnSpc>
              <a:spcAft>
                <a:spcPts val="1400"/>
              </a:spcAft>
              <a:buSzPct val="100000"/>
              <a:buChar char="■"/>
            </a:pPr>
            <a:r>
              <a:rPr lang="en-US" sz="14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Next.js 15, backend Go (Gin), database Supabase (PostgreSQL)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400"/>
              </a:spcAft>
              <a:buSzPct val="100000"/>
              <a:buChar char="■"/>
            </a:pPr>
            <a:r>
              <a:rPr lang="en-US" sz="14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Metode pengembangan: Design Thinking (Empathize–Define–Ideate–Prototype–Test)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400"/>
              </a:spcAft>
              <a:buSzPct val="100000"/>
              <a:buChar char="■"/>
            </a:pPr>
            <a:r>
              <a:rPr lang="en-US" sz="14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Cakupan fitur: aktivitas SIAK, anomali data, pengajuan bulanan, evaluasi otomatis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III — METODE PENELITIAN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Metode Design Thinking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tahapan Stanford d.school digunakan sebagai kerangka rancang bangun sistem, dari pemahaman kebutuhan hingga pengujian purwarupa.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0B244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4688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FB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30175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Empathize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5800" y="3566160"/>
            <a:ext cx="1691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Observasi &amp; wawancara pengguna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14600" y="3474720"/>
            <a:ext cx="30861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23210" y="233172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2960370" y="24688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FB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960370" y="30175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960370" y="3566160"/>
            <a:ext cx="1691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kebutuhan sistem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89170" y="3474720"/>
            <a:ext cx="30861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097780" y="233172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0B2447"/>
          </a:solidFill>
          <a:ln/>
        </p:spPr>
      </p:sp>
      <p:sp>
        <p:nvSpPr>
          <p:cNvPr id="16" name="Text 14"/>
          <p:cNvSpPr/>
          <p:nvPr/>
        </p:nvSpPr>
        <p:spPr>
          <a:xfrm>
            <a:off x="5234940" y="24688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FB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34940" y="30175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Ideate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234940" y="3566160"/>
            <a:ext cx="1691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&amp; prioritas fitur (MoSCoW)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063740" y="3474720"/>
            <a:ext cx="30861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372350" y="233172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7509510" y="24688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FB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509510" y="30175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509510" y="3566160"/>
            <a:ext cx="1691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Wireframe, arsitektur &amp; implementasi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338310" y="3474720"/>
            <a:ext cx="30861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646920" y="233172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0B2447"/>
          </a:solidFill>
          <a:ln/>
        </p:spPr>
      </p:sp>
      <p:sp>
        <p:nvSpPr>
          <p:cNvPr id="26" name="Text 24"/>
          <p:cNvSpPr/>
          <p:nvPr/>
        </p:nvSpPr>
        <p:spPr>
          <a:xfrm>
            <a:off x="9784080" y="24688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FB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784080" y="30175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784080" y="3566160"/>
            <a:ext cx="1691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Black-Box, usability, &amp; performa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50292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tahap Design Thinking divalidasi bersama stakeholder (Kepala Dinas, Sekretariat, dan perwakilan staf) sebelum berlanjut ke tahap berikutnya, memastikan solusi berpusat pada kebutuhan nyata pengguna.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— EMPATHIZE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Memahami Kondisi di Lapangan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Observasi langsung &amp; wawancara semi-struktural dengan Administrator Database Disdukcapil Kab. Garut mengungkap pola kerja manual yang berisiko dan tidak efisien.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2606040" cy="3108960"/>
          </a:xfrm>
          <a:prstGeom prst="roundRect">
            <a:avLst>
              <a:gd name="adj" fmla="val 3158"/>
            </a:avLst>
          </a:prstGeom>
          <a:solidFill>
            <a:srgbClr val="E8F1F5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7432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Pencatatan Manual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97764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Aktivitas harian dicatat via Microsoft Excel &amp; Notepad tanpa integrasi sistem.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55848" y="2468880"/>
            <a:ext cx="2606040" cy="3108960"/>
          </a:xfrm>
          <a:prstGeom prst="roundRect">
            <a:avLst>
              <a:gd name="adj" fmla="val 3158"/>
            </a:avLst>
          </a:prstGeom>
          <a:solidFill>
            <a:srgbClr val="E8F1F5"/>
          </a:solidFill>
          <a:ln/>
        </p:spPr>
      </p:sp>
      <p:sp>
        <p:nvSpPr>
          <p:cNvPr id="11" name="Shape 9"/>
          <p:cNvSpPr/>
          <p:nvPr/>
        </p:nvSpPr>
        <p:spPr>
          <a:xfrm>
            <a:off x="3584448" y="27432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3584448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84448" y="342900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 Tak Terdeteksi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84448" y="397764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operator dan salah rekam ditemukan secara manual, rentan human error.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63056" y="2468880"/>
            <a:ext cx="2606040" cy="3108960"/>
          </a:xfrm>
          <a:prstGeom prst="roundRect">
            <a:avLst>
              <a:gd name="adj" fmla="val 3158"/>
            </a:avLst>
          </a:prstGeom>
          <a:solidFill>
            <a:srgbClr val="E8F1F5"/>
          </a:solidFill>
          <a:ln/>
        </p:spPr>
      </p:sp>
      <p:sp>
        <p:nvSpPr>
          <p:cNvPr id="16" name="Shape 14"/>
          <p:cNvSpPr/>
          <p:nvPr/>
        </p:nvSpPr>
        <p:spPr>
          <a:xfrm>
            <a:off x="6391656" y="27432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391656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91656" y="342900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 Subjektif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91656" y="397764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 scoring otomatis; penilaian kinerja bergantung penuh pada supervisor.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70264" y="2468880"/>
            <a:ext cx="2606040" cy="3108960"/>
          </a:xfrm>
          <a:prstGeom prst="roundRect">
            <a:avLst>
              <a:gd name="adj" fmla="val 3158"/>
            </a:avLst>
          </a:prstGeom>
          <a:solidFill>
            <a:srgbClr val="E8F1F5"/>
          </a:solidFill>
          <a:ln/>
        </p:spPr>
      </p:sp>
      <p:sp>
        <p:nvSpPr>
          <p:cNvPr id="21" name="Shape 19"/>
          <p:cNvSpPr/>
          <p:nvPr/>
        </p:nvSpPr>
        <p:spPr>
          <a:xfrm>
            <a:off x="9198864" y="27432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9198864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98864" y="342900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Terlambat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98864" y="397764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Pimpinan tidak memiliki data real-time untuk pengambilan keputusan cepat.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— DEFINE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&amp; Kebutuhan Sistem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0B244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Might We: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mengotomatisasi rekapitulasi, mendeteksi anomali data, dan menerapkan scoring kinerja yang objektif &amp; real-time bagi petugas perekaman Disdukcapil Garut?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5440680" cy="3200400"/>
          </a:xfrm>
          <a:prstGeom prst="roundRect">
            <a:avLst>
              <a:gd name="adj" fmla="val 2286"/>
            </a:avLst>
          </a:prstGeom>
          <a:solidFill>
            <a:srgbClr val="E8F1F5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063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 Fungsional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474720"/>
            <a:ext cx="493776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✦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Rekapitulasi anomali data terintegrasi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✦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monitoring harian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✦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otomatis data duplikat &amp; salah rekam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✦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Rules-based scoring engine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✦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email otomatis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✦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laporan Excel/PDF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✦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(Admin, Kabid, Operator)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2880360"/>
            <a:ext cx="5440680" cy="3200400"/>
          </a:xfrm>
          <a:prstGeom prst="roundRect">
            <a:avLst>
              <a:gd name="adj" fmla="val 2286"/>
            </a:avLst>
          </a:prstGeom>
          <a:solidFill>
            <a:srgbClr val="E8F1F5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3063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 Non-Fungsional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46520" y="3474720"/>
            <a:ext cx="493776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compatibility (akses lintas perangkat)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time API &lt; 200 ms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 minimal 99,5% saat jam kerja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Enkripsi HTTPS/TLS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Autentikasi berbasis JWT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Skalabel untuk penambahan pengguna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Antarmuka konsisten sesuai prinsip UX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— IDEATE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Prioritas Fitur — Metode MoSCoW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dari sesi brainstorming &amp; affinity diagram diprioritaskan berdasarkan urgensi masalah, ketersediaan sumber daya, dan dampak terhadap pengguna.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0B244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4028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Have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2606040" cy="2880360"/>
          </a:xfrm>
          <a:prstGeom prst="roundRect">
            <a:avLst>
              <a:gd name="adj" fmla="val 2105"/>
            </a:avLst>
          </a:prstGeom>
          <a:solidFill>
            <a:srgbClr val="E8F1F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017520"/>
            <a:ext cx="22402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input laporan digital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duplicate operator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Rules-based scoring engine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monitoring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55848" y="2240280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3355848" y="224028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Have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355848" y="2834640"/>
            <a:ext cx="2606040" cy="2880360"/>
          </a:xfrm>
          <a:prstGeom prst="roundRect">
            <a:avLst>
              <a:gd name="adj" fmla="val 2105"/>
            </a:avLst>
          </a:prstGeom>
          <a:solidFill>
            <a:srgbClr val="E8F1F5"/>
          </a:solidFill>
          <a:ln/>
        </p:spPr>
      </p:sp>
      <p:sp>
        <p:nvSpPr>
          <p:cNvPr id="12" name="Text 10"/>
          <p:cNvSpPr/>
          <p:nvPr/>
        </p:nvSpPr>
        <p:spPr>
          <a:xfrm>
            <a:off x="3538728" y="3017520"/>
            <a:ext cx="22402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email otomatis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laporan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Manajemen user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63056" y="2240280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163056" y="224028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Have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163056" y="2834640"/>
            <a:ext cx="2606040" cy="2880360"/>
          </a:xfrm>
          <a:prstGeom prst="roundRect">
            <a:avLst>
              <a:gd name="adj" fmla="val 2105"/>
            </a:avLst>
          </a:prstGeom>
          <a:solidFill>
            <a:srgbClr val="E8F1F5"/>
          </a:solidFill>
          <a:ln/>
        </p:spPr>
      </p:sp>
      <p:sp>
        <p:nvSpPr>
          <p:cNvPr id="16" name="Text 14"/>
          <p:cNvSpPr/>
          <p:nvPr/>
        </p:nvSpPr>
        <p:spPr>
          <a:xfrm>
            <a:off x="6345936" y="3017520"/>
            <a:ext cx="22402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Visualisasi grafik tren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Pencarian lanjutan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70264" y="2240280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5B7A8C"/>
          </a:solidFill>
          <a:ln/>
        </p:spPr>
      </p:sp>
      <p:sp>
        <p:nvSpPr>
          <p:cNvPr id="18" name="Text 16"/>
          <p:cNvSpPr/>
          <p:nvPr/>
        </p:nvSpPr>
        <p:spPr>
          <a:xfrm>
            <a:off x="8970264" y="224028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Have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970264" y="2834640"/>
            <a:ext cx="2606040" cy="2880360"/>
          </a:xfrm>
          <a:prstGeom prst="roundRect">
            <a:avLst>
              <a:gd name="adj" fmla="val 2105"/>
            </a:avLst>
          </a:prstGeom>
          <a:solidFill>
            <a:srgbClr val="E8F1F5"/>
          </a:solidFill>
          <a:ln/>
        </p:spPr>
      </p:sp>
      <p:sp>
        <p:nvSpPr>
          <p:cNvPr id="20" name="Text 18"/>
          <p:cNvSpPr/>
          <p:nvPr/>
        </p:nvSpPr>
        <p:spPr>
          <a:xfrm>
            <a:off x="9153144" y="3017520"/>
            <a:ext cx="22402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real-time SIAK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native application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— PROTOTYPE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Arsitektur Sistem &amp; Teknologi</a:t>
            </a:r>
            <a:endParaRPr lang="en-US" sz="3200" dirty="0"/>
          </a:p>
        </p:txBody>
      </p:sp>
      <p:pic>
        <p:nvPicPr>
          <p:cNvPr id="4" name="Image 0" descr="/home/claude/docx_media/image14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691640"/>
            <a:ext cx="6858000" cy="4434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1722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4.8 — Diagram Arsitektur Sistem (dokumen skripsi)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7635240" y="1691640"/>
            <a:ext cx="3977640" cy="749808"/>
          </a:xfrm>
          <a:prstGeom prst="roundRect">
            <a:avLst>
              <a:gd name="adj" fmla="val 8537"/>
            </a:avLst>
          </a:prstGeom>
          <a:solidFill>
            <a:srgbClr val="E8F1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818120" y="17647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818120" y="203911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+ Tailwind CSS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635240" y="2587752"/>
            <a:ext cx="3977640" cy="749808"/>
          </a:xfrm>
          <a:prstGeom prst="roundRect">
            <a:avLst>
              <a:gd name="adj" fmla="val 8537"/>
            </a:avLst>
          </a:prstGeom>
          <a:solidFill>
            <a:srgbClr val="E8F1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7818120" y="26609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818120" y="293522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(Golang) + Gin Framework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635240" y="3483864"/>
            <a:ext cx="3977640" cy="749808"/>
          </a:xfrm>
          <a:prstGeom prst="roundRect">
            <a:avLst>
              <a:gd name="adj" fmla="val 8537"/>
            </a:avLst>
          </a:prstGeom>
          <a:solidFill>
            <a:srgbClr val="E8F1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7818120" y="35570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818120" y="3831336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(PostgreSQL)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635240" y="4379976"/>
            <a:ext cx="3977640" cy="749808"/>
          </a:xfrm>
          <a:prstGeom prst="roundRect">
            <a:avLst>
              <a:gd name="adj" fmla="val 8537"/>
            </a:avLst>
          </a:prstGeom>
          <a:solidFill>
            <a:srgbClr val="E8F1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7818120" y="4453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818120" y="472744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635240" y="5276088"/>
            <a:ext cx="3977640" cy="749808"/>
          </a:xfrm>
          <a:prstGeom prst="roundRect">
            <a:avLst>
              <a:gd name="adj" fmla="val 8537"/>
            </a:avLst>
          </a:prstGeom>
          <a:solidFill>
            <a:srgbClr val="E8F1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7818120" y="5349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818120" y="5623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Email Service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— PROTOTYPE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Wireframe &amp; Implementasi Antarmuka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 low-fidelity dirancang lebih dahulu sebelum implementasi visual final menggunakan Tailwind CSS.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8F1F5"/>
          </a:solidFill>
          <a:ln w="12700">
            <a:solidFill>
              <a:srgbClr val="E8F1F5"/>
            </a:solidFill>
            <a:prstDash val="solid"/>
          </a:ln>
        </p:spPr>
      </p:sp>
      <p:pic>
        <p:nvPicPr>
          <p:cNvPr id="6" name="Image 0" descr="/home/claude/docx_media/image9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5800" y="2148840"/>
            <a:ext cx="3246120" cy="3611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8064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9768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8F1F5"/>
          </a:solidFill>
          <a:ln w="12700">
            <a:solidFill>
              <a:srgbClr val="E8F1F5"/>
            </a:solidFill>
            <a:prstDash val="solid"/>
          </a:ln>
        </p:spPr>
      </p:sp>
      <p:pic>
        <p:nvPicPr>
          <p:cNvPr id="9" name="Image 1" descr="/home/claude/docx_media/image12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34840" y="2148840"/>
            <a:ext cx="3246120" cy="3611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34840" y="58064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Salah Rekam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04672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8F1F5"/>
          </a:solidFill>
          <a:ln w="12700">
            <a:solidFill>
              <a:srgbClr val="E8F1F5"/>
            </a:solidFill>
            <a:prstDash val="solid"/>
          </a:ln>
        </p:spPr>
      </p:sp>
      <p:pic>
        <p:nvPicPr>
          <p:cNvPr id="12" name="Image 2" descr="/home/claude/docx_media/image13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83880" y="2148840"/>
            <a:ext cx="3246120" cy="36118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183880" y="58064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Duplikasi Operator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— TEST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Uji Fungsionalitas — Black-Box Testing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test request dan 72 assertion dieksekusi otomatis via Newman (Postman CLI) terhadap 11 kategori fungsional API backend.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0B244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67128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37560" y="20574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0B2447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2167128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37560" y="28803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26480" y="20574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0B2447"/>
          </a:solidFill>
          <a:ln/>
        </p:spPr>
      </p:sp>
      <p:sp>
        <p:nvSpPr>
          <p:cNvPr id="12" name="Text 10"/>
          <p:cNvSpPr/>
          <p:nvPr/>
        </p:nvSpPr>
        <p:spPr>
          <a:xfrm>
            <a:off x="6126480" y="2167128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126480" y="28803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 Modul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915400" y="20574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8915400" y="2167128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8915400" y="28803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</a:t>
            </a:r>
            <a:endParaRPr lang="en-US" sz="115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548640" y="3520440"/>
          <a:ext cx="1106424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Text 15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— PEMBAHASAN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Dampak: Efisiensi Proses </a:t>
            </a:r>
            <a:r>
              <a:rPr lang="en-US" sz="3200" b="1" dirty="0" err="1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Pelaporan</a:t>
            </a:r>
            <a:endParaRPr lang="en-US" sz="32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4030859134"/>
              </p:ext>
            </p:extLst>
          </p:nvPr>
        </p:nvGraphicFramePr>
        <p:xfrm>
          <a:off x="548640" y="1691640"/>
          <a:ext cx="576072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720840" y="1691640"/>
            <a:ext cx="4937760" cy="1417320"/>
          </a:xfrm>
          <a:prstGeom prst="roundRect">
            <a:avLst>
              <a:gd name="adj" fmla="val 5161"/>
            </a:avLst>
          </a:prstGeom>
          <a:solidFill>
            <a:srgbClr val="0B244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6995160" y="1783080"/>
            <a:ext cx="2011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200ms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9052560" y="1828800"/>
            <a:ext cx="2514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Peningkatan efisiensi waktu pemrosesan laporan bulanan (dari proses manual menjadi real-time)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720840" y="3337560"/>
            <a:ext cx="49377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bisa terjadi?  </a:t>
            </a:r>
            <a:endParaRPr lang="en-US" sz="13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Rules-based scoring engine di backend Go memproses dan menganalisis data secara otomatis, menggantikan alur manual yang rentan human error. Supervisor kini fokus pada analisis kualitatif &amp; keputusan strategis, bukan kalkulasi data manual.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720840" y="534924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Selaras dengan temuan Mergel et al. (2018) dan Mikulić &amp; Lisjak (2021) mengenai dampak digitalisasi rule-based terhadap efisiensi sektor publik.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 — PENUTUP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Kesimpulan dan Saran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E8F1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493776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✦"/>
            </a:pPr>
            <a:r>
              <a:rPr lang="en-US" sz="12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berhasil dirancang dengan arsitektur Next.js &amp; Go melalui metode Design Thinking, efektif menerjemahkan kebutuhan birokrasi ke fitur fungsional.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✦"/>
            </a:pPr>
            <a:r>
              <a:rPr lang="en-US" sz="12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Efisiensi pemrosesan laporan bulanan meningkat real-time (&lt; 200ms per request) dan eliminasi kesalahan kalkulasi manual.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✦"/>
            </a:pPr>
            <a:r>
              <a:rPr lang="en-US" sz="12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stabil (respons 125–180ms).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09360" y="1737360"/>
            <a:ext cx="5303520" cy="4297680"/>
          </a:xfrm>
          <a:prstGeom prst="roundRect">
            <a:avLst>
              <a:gd name="adj" fmla="val 1702"/>
            </a:avLst>
          </a:prstGeom>
          <a:solidFill>
            <a:srgbClr val="0B244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0" y="19202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SARAN PENGEMBANGAN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331720"/>
            <a:ext cx="475488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API langsung dengan sistem nasional (SIAK/SIKD) untuk memperluas otomatisasi pelaporan.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Penyusunan SOP formal penggunaan &amp; pemeliharaan platform untuk keberlanjutan implementasi.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Pengembangan enkripsi end-to-end pada seluruh lajur data untuk melindungi data kependudukan sensitif.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4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4114800"/>
            <a:ext cx="5029200" cy="502920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256032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35661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Mohon arahan, koreksi, dan masukan dari Bapak/Ibu Penguji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420624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F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Firman Firdaus  •  NIM. 24.57.2014012  •  Program Studi Sistem Informasi, IPI Garut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1202</Words>
  <Application>Microsoft Office PowerPoint</Application>
  <PresentationFormat>Widescreen</PresentationFormat>
  <Paragraphs>227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Firman Firdaus</cp:lastModifiedBy>
  <cp:revision>6</cp:revision>
  <dcterms:created xsi:type="dcterms:W3CDTF">2026-07-26T15:02:24Z</dcterms:created>
  <dcterms:modified xsi:type="dcterms:W3CDTF">2026-07-28T13:51:43Z</dcterms:modified>
</cp:coreProperties>
</file>